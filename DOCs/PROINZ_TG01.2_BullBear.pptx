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6"/>
  </p:notesMasterIdLst>
  <p:sldIdLst>
    <p:sldId id="265" r:id="rId3"/>
    <p:sldId id="257" r:id="rId4"/>
    <p:sldId id="267" r:id="rId5"/>
    <p:sldId id="268" r:id="rId6"/>
    <p:sldId id="259" r:id="rId7"/>
    <p:sldId id="276" r:id="rId8"/>
    <p:sldId id="269" r:id="rId9"/>
    <p:sldId id="261" r:id="rId10"/>
    <p:sldId id="275" r:id="rId11"/>
    <p:sldId id="260" r:id="rId12"/>
    <p:sldId id="262" r:id="rId13"/>
    <p:sldId id="277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78" d="100"/>
          <a:sy n="78" d="100"/>
        </p:scale>
        <p:origin x="1546" y="72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hrabar/BullBear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BULLBEAR APLIKACIJA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01.2 </a:t>
            </a:r>
            <a:r>
              <a:rPr lang="hr-HR" sz="1400" noProof="0" dirty="0" err="1"/>
              <a:t>BullBear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Vedran Hrabar – </a:t>
            </a:r>
            <a:r>
              <a:rPr lang="hr-HR" dirty="0"/>
              <a:t>Voditelj tima / </a:t>
            </a:r>
            <a:r>
              <a:rPr lang="hr-HR" dirty="0" err="1"/>
              <a:t>DevOps</a:t>
            </a:r>
            <a:r>
              <a:rPr lang="hr-HR" dirty="0"/>
              <a:t> / </a:t>
            </a:r>
            <a:r>
              <a:rPr lang="hr-HR" dirty="0" err="1"/>
              <a:t>Frontend</a:t>
            </a:r>
            <a:r>
              <a:rPr lang="hr-HR" dirty="0"/>
              <a:t> / </a:t>
            </a:r>
            <a:r>
              <a:rPr lang="hr-HR" dirty="0" err="1"/>
              <a:t>Backend</a:t>
            </a:r>
            <a:r>
              <a:rPr lang="hr-HR" dirty="0"/>
              <a:t> / Baze podataka</a:t>
            </a:r>
          </a:p>
          <a:p>
            <a:r>
              <a:rPr lang="hr-HR" dirty="0"/>
              <a:t>Viktor Lazić – </a:t>
            </a:r>
            <a:r>
              <a:rPr lang="hr-HR" dirty="0" err="1"/>
              <a:t>Frontend</a:t>
            </a:r>
            <a:r>
              <a:rPr lang="hr-HR" dirty="0"/>
              <a:t> razvojni inženjer</a:t>
            </a:r>
          </a:p>
          <a:p>
            <a:r>
              <a:rPr lang="hr-HR" dirty="0"/>
              <a:t>Vedran </a:t>
            </a:r>
            <a:r>
              <a:rPr lang="hr-HR" dirty="0" err="1"/>
              <a:t>Radojčić</a:t>
            </a:r>
            <a:r>
              <a:rPr lang="hr-HR" dirty="0"/>
              <a:t> – </a:t>
            </a:r>
            <a:r>
              <a:rPr lang="hr-HR" dirty="0" err="1"/>
              <a:t>Frontend</a:t>
            </a:r>
            <a:r>
              <a:rPr lang="hr-HR" dirty="0"/>
              <a:t> razvojni inženjer</a:t>
            </a:r>
          </a:p>
          <a:p>
            <a:r>
              <a:rPr lang="hr-HR" dirty="0"/>
              <a:t>Antun Silov – </a:t>
            </a:r>
            <a:r>
              <a:rPr lang="hr-HR" dirty="0" err="1"/>
              <a:t>Backend</a:t>
            </a:r>
            <a:r>
              <a:rPr lang="hr-HR" dirty="0"/>
              <a:t> razvojni inženjer</a:t>
            </a:r>
          </a:p>
          <a:p>
            <a:r>
              <a:rPr lang="hr-HR" noProof="0" dirty="0"/>
              <a:t>Luka Varga – </a:t>
            </a:r>
            <a:r>
              <a:rPr lang="hr-HR" dirty="0" err="1"/>
              <a:t>Full-stack</a:t>
            </a:r>
            <a:r>
              <a:rPr lang="hr-HR" dirty="0"/>
              <a:t> razvojni inženjer</a:t>
            </a:r>
            <a:endParaRPr lang="hr-HR" noProof="0" dirty="0"/>
          </a:p>
          <a:p>
            <a:r>
              <a:rPr lang="hr-HR" dirty="0"/>
              <a:t>Leon Zorko – </a:t>
            </a:r>
            <a:r>
              <a:rPr lang="hr-HR" dirty="0" err="1"/>
              <a:t>Frontend</a:t>
            </a:r>
            <a:r>
              <a:rPr lang="hr-HR" dirty="0"/>
              <a:t> razvojni inženjer</a:t>
            </a:r>
          </a:p>
          <a:p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hr-HR" dirty="0" err="1"/>
              <a:t>BullBear</a:t>
            </a:r>
            <a:r>
              <a:rPr lang="hr-HR" dirty="0"/>
              <a:t> je brokerska aplikacija za simulirano trgovanje dionicama i ETF-ovima uz tržišne podatke u stvarnom vremenu.</a:t>
            </a:r>
          </a:p>
          <a:p>
            <a:pPr lvl="0"/>
            <a:r>
              <a:rPr lang="hr-HR" dirty="0"/>
              <a:t>Primarni cilj platforme jest omogućiti korisnicima sigurno testiranje strategija trgovanja bez rizika gubitka stvarnog kapitala, kao i edukacija korisnika te razumijevanje tržišnih mehanizama.</a:t>
            </a:r>
          </a:p>
          <a:p>
            <a:pPr lvl="0"/>
            <a:r>
              <a:rPr lang="pt-BR" dirty="0"/>
              <a:t>Na tržištu postoje platforme poput </a:t>
            </a:r>
            <a:r>
              <a:rPr lang="pt-BR" i="1" dirty="0"/>
              <a:t>Investopedia Simulatora</a:t>
            </a:r>
            <a:r>
              <a:rPr lang="pt-BR" dirty="0"/>
              <a:t>, </a:t>
            </a:r>
            <a:r>
              <a:rPr lang="pt-BR" i="1" dirty="0"/>
              <a:t>TradingView Paper Tradinga</a:t>
            </a:r>
            <a:r>
              <a:rPr lang="pt-BR" dirty="0"/>
              <a:t> i </a:t>
            </a:r>
            <a:r>
              <a:rPr lang="pt-BR" i="1" dirty="0"/>
              <a:t>eToro Virtual Portfolio</a:t>
            </a:r>
            <a:r>
              <a:rPr lang="pt-BR" dirty="0"/>
              <a:t>, koje omogućuju simulirano trgovanje</a:t>
            </a:r>
            <a:r>
              <a:rPr lang="hr-HR" dirty="0"/>
              <a:t>. Međutim, njihov pristup je često zasnovan na promotivnim interesima brokerskih kuća, te je njihov pristup tržišnim podacima </a:t>
            </a:r>
            <a:r>
              <a:rPr lang="hr-HR" dirty="0" err="1"/>
              <a:t>ograničeniji</a:t>
            </a:r>
            <a:r>
              <a:rPr lang="hr-HR" dirty="0"/>
              <a:t>. Ovaj projekt razlikuje se po tome što naglasak stavlja na edukaciju, transparentnost i proširivost sustava.</a:t>
            </a: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zahtjevi:</a:t>
            </a:r>
            <a:r>
              <a:rPr lang="hr-HR" noProof="0" dirty="0"/>
              <a:t> </a:t>
            </a:r>
          </a:p>
          <a:p>
            <a:r>
              <a:rPr lang="hr-HR" dirty="0"/>
              <a:t>Prijava i odjava korisnika</a:t>
            </a:r>
          </a:p>
          <a:p>
            <a:r>
              <a:rPr lang="hr-HR" noProof="0" dirty="0"/>
              <a:t>Upravljanje profilom i kor</a:t>
            </a:r>
            <a:r>
              <a:rPr lang="hr-HR" dirty="0" err="1"/>
              <a:t>isničkim</a:t>
            </a:r>
            <a:r>
              <a:rPr lang="hr-HR" dirty="0"/>
              <a:t> podacima</a:t>
            </a:r>
          </a:p>
          <a:p>
            <a:r>
              <a:rPr lang="hr-HR" dirty="0"/>
              <a:t>Dohvaćanje cijena i podataka o instrumentima</a:t>
            </a:r>
          </a:p>
          <a:p>
            <a:r>
              <a:rPr lang="hr-HR" noProof="0" dirty="0"/>
              <a:t>Simulirana kupnja i prodaja instrumenata</a:t>
            </a:r>
          </a:p>
          <a:p>
            <a:r>
              <a:rPr lang="hr-HR" dirty="0"/>
              <a:t>Prikaz relevantnih informacija u grafičkom obliku</a:t>
            </a:r>
          </a:p>
          <a:p>
            <a:r>
              <a:rPr lang="hr-HR" noProof="0" dirty="0"/>
              <a:t>Kreiranje i </a:t>
            </a:r>
            <a:r>
              <a:rPr lang="hr-HR" noProof="0" dirty="0" err="1"/>
              <a:t>upravl</a:t>
            </a:r>
            <a:r>
              <a:rPr lang="hr-HR" dirty="0"/>
              <a:t>janje mini-fondovima</a:t>
            </a:r>
          </a:p>
          <a:p>
            <a:r>
              <a:rPr lang="hr-HR" noProof="0" dirty="0"/>
              <a:t>Ku</a:t>
            </a:r>
            <a:r>
              <a:rPr lang="hr-HR" dirty="0" err="1"/>
              <a:t>pnja</a:t>
            </a:r>
            <a:r>
              <a:rPr lang="hr-HR" dirty="0"/>
              <a:t> i obnova </a:t>
            </a:r>
            <a:r>
              <a:rPr lang="hr-HR" dirty="0" err="1"/>
              <a:t>premium</a:t>
            </a:r>
            <a:r>
              <a:rPr lang="hr-HR" dirty="0"/>
              <a:t> pretplate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C896-0DA5-D699-704A-EC561AEA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5A0B-805C-03ED-409F-A86B5259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ADBEC-14BD-666B-4E28-8CB04F89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Nefunkcionalni i zahtjevi domene primjene:</a:t>
            </a:r>
          </a:p>
          <a:p>
            <a:r>
              <a:rPr lang="hr-HR" dirty="0" err="1"/>
              <a:t>Responzivno</a:t>
            </a:r>
            <a:r>
              <a:rPr lang="hr-HR" dirty="0"/>
              <a:t> i funkcionalno sučelje</a:t>
            </a:r>
          </a:p>
          <a:p>
            <a:r>
              <a:rPr lang="hr-HR" noProof="0" dirty="0"/>
              <a:t>Prosječni odziv API poziva </a:t>
            </a:r>
            <a:r>
              <a:rPr lang="hr-HR" dirty="0"/>
              <a:t>≤ 500 </a:t>
            </a:r>
            <a:r>
              <a:rPr lang="hr-HR" dirty="0" err="1"/>
              <a:t>ms</a:t>
            </a:r>
            <a:r>
              <a:rPr lang="hr-HR" dirty="0"/>
              <a:t>, nijedan poziv dulji od 2 s</a:t>
            </a:r>
          </a:p>
          <a:p>
            <a:r>
              <a:rPr lang="hr-HR" dirty="0"/>
              <a:t>Dnevni </a:t>
            </a:r>
            <a:r>
              <a:rPr lang="hr-HR" dirty="0" err="1"/>
              <a:t>full</a:t>
            </a:r>
            <a:r>
              <a:rPr lang="hr-HR" dirty="0"/>
              <a:t> backup baze podataka</a:t>
            </a:r>
          </a:p>
          <a:p>
            <a:r>
              <a:rPr lang="hr-HR" noProof="0" dirty="0"/>
              <a:t>Automatsko bilježenje grešaka i kritičnih događaja</a:t>
            </a:r>
          </a:p>
          <a:p>
            <a:r>
              <a:rPr lang="hr-HR" dirty="0"/>
              <a:t>Podržana internacionalizacija s minimalno dva jezika</a:t>
            </a:r>
          </a:p>
          <a:p>
            <a:r>
              <a:rPr lang="hr-HR" noProof="0" dirty="0"/>
              <a:t>Kôd dokumentiran i pisan prema PEP8 za Python te </a:t>
            </a:r>
            <a:r>
              <a:rPr lang="hr-HR" noProof="0" dirty="0" err="1"/>
              <a:t>TypeScript</a:t>
            </a:r>
            <a:r>
              <a:rPr lang="hr-HR" noProof="0" dirty="0"/>
              <a:t> </a:t>
            </a:r>
            <a:r>
              <a:rPr lang="hr-HR" noProof="0" dirty="0" err="1"/>
              <a:t>ESLint</a:t>
            </a:r>
            <a:r>
              <a:rPr lang="hr-HR" noProof="0" dirty="0"/>
              <a:t> za </a:t>
            </a:r>
            <a:r>
              <a:rPr lang="hr-HR" noProof="0" dirty="0" err="1"/>
              <a:t>TypeScript</a:t>
            </a:r>
            <a:endParaRPr lang="hr-HR" noProof="0" dirty="0"/>
          </a:p>
          <a:p>
            <a:r>
              <a:rPr lang="hr-HR" dirty="0"/>
              <a:t>Sustav skalabilan na zahtjev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BC507-3A80-1DC7-F7F1-C93680C6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2215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Visokorazinski</a:t>
            </a:r>
            <a:r>
              <a:rPr lang="hr-HR" b="1" dirty="0"/>
              <a:t> dijagram obrazaca uporabe cijelog sustava</a:t>
            </a:r>
            <a:r>
              <a:rPr lang="hr-HR" noProof="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sp>
        <p:nvSpPr>
          <p:cNvPr id="5" name="AutoShape 2" descr="UC1">
            <a:extLst>
              <a:ext uri="{FF2B5EF4-FFF2-40B4-BE49-F238E27FC236}">
                <a16:creationId xmlns:a16="http://schemas.microsoft.com/office/drawing/2014/main" id="{22D9AE32-8735-8126-A007-D5A07B98C4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7" name="Grafika 6">
            <a:extLst>
              <a:ext uri="{FF2B5EF4-FFF2-40B4-BE49-F238E27FC236}">
                <a16:creationId xmlns:a16="http://schemas.microsoft.com/office/drawing/2014/main" id="{72218E09-CD89-D0E7-8D7B-E08DCA708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134" y="1436458"/>
            <a:ext cx="7476931" cy="52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 err="1"/>
              <a:t>React</a:t>
            </a:r>
            <a:r>
              <a:rPr lang="hr-HR" noProof="0" dirty="0"/>
              <a:t> </a:t>
            </a:r>
            <a:r>
              <a:rPr lang="hr-HR" noProof="0" dirty="0" err="1"/>
              <a:t>frontend</a:t>
            </a:r>
            <a:r>
              <a:rPr lang="hr-HR" noProof="0" dirty="0"/>
              <a:t>, </a:t>
            </a:r>
            <a:r>
              <a:rPr lang="hr-HR" noProof="0" dirty="0" err="1"/>
              <a:t>Django</a:t>
            </a:r>
            <a:r>
              <a:rPr lang="hr-HR" noProof="0" dirty="0"/>
              <a:t>-REST </a:t>
            </a:r>
            <a:r>
              <a:rPr lang="hr-HR" noProof="0" dirty="0" err="1"/>
              <a:t>backend</a:t>
            </a:r>
            <a:endParaRPr lang="hr-HR" noProof="0" dirty="0"/>
          </a:p>
          <a:p>
            <a:r>
              <a:rPr lang="hr-HR" noProof="0" dirty="0" err="1"/>
              <a:t>Visokorazinski</a:t>
            </a:r>
            <a:r>
              <a:rPr lang="hr-HR" noProof="0" dirty="0"/>
              <a:t> dijagram arhitekture</a:t>
            </a:r>
            <a:endParaRPr lang="hr-HR" i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0905C521-B941-5FC4-CA71-4903E0B56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738" y="2013076"/>
            <a:ext cx="8477261" cy="44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Ispitivanje provedeno postupno</a:t>
            </a:r>
          </a:p>
          <a:p>
            <a:r>
              <a:rPr lang="hr-HR" dirty="0"/>
              <a:t>Svaka funkcionalnost ispitana prije puštanja u produkciju</a:t>
            </a:r>
            <a:endParaRPr lang="hr-HR" noProof="0" dirty="0"/>
          </a:p>
          <a:p>
            <a:r>
              <a:rPr lang="hr-HR" noProof="0" dirty="0"/>
              <a:t>Fokus stavljen na glavne potrebe i predviđene radnje</a:t>
            </a:r>
          </a:p>
          <a:p>
            <a:r>
              <a:rPr lang="hr-HR" dirty="0"/>
              <a:t>Za nepredviđene radnje, glavni fokus stavljen na održavanje aplikacije funkcionalnom</a:t>
            </a:r>
          </a:p>
          <a:p>
            <a:r>
              <a:rPr lang="hr-HR" dirty="0"/>
              <a:t>Testiran velik dio rubnih slučajeva</a:t>
            </a:r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noProof="0" dirty="0" err="1"/>
              <a:t>Frontend</a:t>
            </a:r>
            <a:r>
              <a:rPr lang="hr-HR" noProof="0" dirty="0"/>
              <a:t> – temelj </a:t>
            </a:r>
            <a:r>
              <a:rPr lang="hr-HR" dirty="0" err="1"/>
              <a:t>React</a:t>
            </a:r>
            <a:r>
              <a:rPr lang="hr-HR" dirty="0"/>
              <a:t> (verzija 18), Vite, biblioteke </a:t>
            </a:r>
            <a:r>
              <a:rPr lang="hr-HR" dirty="0" err="1"/>
              <a:t>Recharts</a:t>
            </a:r>
            <a:r>
              <a:rPr lang="hr-HR" dirty="0"/>
              <a:t> / Charts.js, </a:t>
            </a:r>
            <a:r>
              <a:rPr lang="hr-HR" dirty="0" err="1"/>
              <a:t>Tailwind</a:t>
            </a:r>
            <a:r>
              <a:rPr lang="hr-HR" dirty="0"/>
              <a:t> CSS</a:t>
            </a:r>
          </a:p>
          <a:p>
            <a:pPr lvl="1"/>
            <a:r>
              <a:rPr lang="hr-HR" noProof="0" dirty="0" err="1"/>
              <a:t>Backend</a:t>
            </a:r>
            <a:r>
              <a:rPr lang="hr-HR" noProof="0" dirty="0"/>
              <a:t> – t</a:t>
            </a:r>
            <a:r>
              <a:rPr lang="hr-HR" dirty="0" err="1"/>
              <a:t>emelj</a:t>
            </a:r>
            <a:r>
              <a:rPr lang="hr-HR" dirty="0"/>
              <a:t> Python (verzija 3.10) i radni okvir </a:t>
            </a:r>
            <a:r>
              <a:rPr lang="hr-HR" dirty="0" err="1"/>
              <a:t>Django</a:t>
            </a:r>
            <a:r>
              <a:rPr lang="hr-HR" dirty="0"/>
              <a:t>, Django REST Framework, </a:t>
            </a:r>
            <a:r>
              <a:rPr lang="hr-HR" dirty="0" err="1"/>
              <a:t>Redis</a:t>
            </a:r>
            <a:r>
              <a:rPr lang="hr-HR" dirty="0"/>
              <a:t>, Finnhub.io API, </a:t>
            </a:r>
            <a:r>
              <a:rPr lang="hr-HR" dirty="0" err="1"/>
              <a:t>PostgreSQL</a:t>
            </a:r>
            <a:r>
              <a:rPr lang="hr-HR" dirty="0"/>
              <a:t> baza podataka</a:t>
            </a:r>
          </a:p>
          <a:p>
            <a:pPr lvl="1"/>
            <a:r>
              <a:rPr lang="hr-HR" noProof="0" dirty="0"/>
              <a:t>Standardizacija </a:t>
            </a:r>
            <a:r>
              <a:rPr lang="hr-HR" noProof="0" dirty="0" err="1"/>
              <a:t>Docker</a:t>
            </a:r>
            <a:r>
              <a:rPr lang="hr-HR" noProof="0" dirty="0"/>
              <a:t> i </a:t>
            </a:r>
            <a:r>
              <a:rPr lang="hr-HR" noProof="0" dirty="0" err="1"/>
              <a:t>Docker</a:t>
            </a:r>
            <a:r>
              <a:rPr lang="hr-HR" noProof="0" dirty="0"/>
              <a:t> </a:t>
            </a:r>
            <a:r>
              <a:rPr lang="hr-HR" noProof="0" dirty="0" err="1"/>
              <a:t>Compose</a:t>
            </a:r>
            <a:r>
              <a:rPr lang="hr-HR" noProof="0" dirty="0"/>
              <a:t> alatima, </a:t>
            </a:r>
            <a:r>
              <a:rPr lang="hr-HR" dirty="0" err="1"/>
              <a:t>Git</a:t>
            </a:r>
            <a:r>
              <a:rPr lang="hr-HR" dirty="0"/>
              <a:t> upravljanje izvornim kodom, </a:t>
            </a:r>
            <a:r>
              <a:rPr lang="hr-HR" dirty="0" err="1"/>
              <a:t>Pytest</a:t>
            </a:r>
            <a:r>
              <a:rPr lang="hr-HR" dirty="0"/>
              <a:t> za </a:t>
            </a:r>
            <a:r>
              <a:rPr lang="hr-HR" dirty="0" err="1"/>
              <a:t>backend</a:t>
            </a:r>
            <a:r>
              <a:rPr lang="hr-HR" dirty="0"/>
              <a:t> logiku, Jest za ispravnost </a:t>
            </a:r>
            <a:r>
              <a:rPr lang="hr-HR" dirty="0" err="1"/>
              <a:t>frontenda</a:t>
            </a:r>
            <a:r>
              <a:rPr lang="hr-HR" dirty="0"/>
              <a:t>, autentifikacija korisnika pomoću </a:t>
            </a:r>
            <a:r>
              <a:rPr lang="nn-NO" dirty="0"/>
              <a:t>Google i Microsoft OAuth protokola</a:t>
            </a:r>
            <a:r>
              <a:rPr lang="hr-HR" dirty="0"/>
              <a:t>, simulacija naplate Stripe i PayPal sustavima</a:t>
            </a:r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  <a:p>
            <a:r>
              <a:rPr lang="hr-HR" noProof="0" dirty="0"/>
              <a:t>Smještaj aplikacije: projekt smješten na </a:t>
            </a:r>
            <a:r>
              <a:rPr lang="hr-HR" noProof="0" dirty="0" err="1"/>
              <a:t>GitHubu</a:t>
            </a:r>
            <a:r>
              <a:rPr lang="hr-HR" dirty="0"/>
              <a:t>: </a:t>
            </a:r>
            <a:r>
              <a:rPr lang="hr-HR" dirty="0">
                <a:hlinkClick r:id="rId2"/>
              </a:rPr>
              <a:t>https://github.com/vhrabar/BullBear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Platforme za komunikaciju: </a:t>
            </a:r>
            <a:r>
              <a:rPr lang="hr-HR" noProof="0" dirty="0" err="1"/>
              <a:t>Discord</a:t>
            </a:r>
            <a:r>
              <a:rPr lang="hr-HR" noProof="0" dirty="0"/>
              <a:t>, WhatsApp</a:t>
            </a:r>
          </a:p>
          <a:p>
            <a:pPr lvl="1"/>
            <a:r>
              <a:rPr lang="hr-HR" noProof="0" dirty="0" err="1"/>
              <a:t>GitHub</a:t>
            </a:r>
            <a:r>
              <a:rPr lang="hr-HR" noProof="0" dirty="0"/>
              <a:t> iskustvo: upoznavanje s glavnim funkcionalnostima </a:t>
            </a:r>
            <a:r>
              <a:rPr lang="hr-HR" noProof="0" dirty="0" err="1"/>
              <a:t>GitHuba</a:t>
            </a:r>
            <a:r>
              <a:rPr lang="hr-HR" noProof="0" dirty="0"/>
              <a:t>, zajednički rad na projektu, objava vlastitog kôda na platformu</a:t>
            </a:r>
          </a:p>
          <a:p>
            <a:pPr lvl="1"/>
            <a:endParaRPr lang="hr-HR" noProof="0" dirty="0"/>
          </a:p>
          <a:p>
            <a:pPr lvl="1"/>
            <a:r>
              <a:rPr lang="hr-HR" noProof="0" dirty="0"/>
              <a:t>Primijenjeni model životnog ciklusa</a:t>
            </a:r>
          </a:p>
          <a:p>
            <a:pPr lvl="1"/>
            <a:r>
              <a:rPr lang="hr-HR" noProof="0" dirty="0"/>
              <a:t>Inkrementalni – verzije aplikacije isporučivane prema zadanim rokovima</a:t>
            </a:r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9295-685C-5891-03DC-84B9E1E8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C33D-5A90-0E10-54DC-B6CB37F9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1B28B-BE7A-0DC7-B4E3-C53044A77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Vremenski prikaz razvoja funkcionalnosti na projektu:</a:t>
            </a:r>
            <a:br>
              <a:rPr lang="hr-HR" noProof="0" dirty="0"/>
            </a:br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5832A-6324-029E-1C4E-20FAF8251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6" name="Slika 5" descr="Slika na kojoj se prikazuje tekst, dijagram, karta, crta&#10;&#10;Sadržaj generiran uz AI možda nije točan.">
            <a:extLst>
              <a:ext uri="{FF2B5EF4-FFF2-40B4-BE49-F238E27FC236}">
                <a16:creationId xmlns:a16="http://schemas.microsoft.com/office/drawing/2014/main" id="{6EE349DE-E790-FBD9-FEA2-2A8D0BFBA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5" y="1756711"/>
            <a:ext cx="8607243" cy="41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3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Pozitivno – skupljanje iskustva u timskom radu, doživljaj rada na izgradnji potpune web aplikacije, upoznavanje s novim tehnologijama koje se primjenjuju u industriji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Prostor za napredak – pravilnija podjela rada među članovima, bolje vremenski planirati rad za sigurniji razvoj sadržaja</a:t>
            </a:r>
            <a:endParaRPr lang="hr-HR" noProof="0" dirty="0">
              <a:sym typeface="Wingdings" panose="05000000000000000000" pitchFamily="2" charset="2"/>
            </a:endParaRP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1279</TotalTime>
  <Words>576</Words>
  <Application>Microsoft Office PowerPoint</Application>
  <PresentationFormat>Prikaz na zaslonu (4:3)</PresentationFormat>
  <Paragraphs>87</Paragraphs>
  <Slides>13</Slides>
  <Notes>3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13</vt:i4>
      </vt:variant>
    </vt:vector>
  </HeadingPairs>
  <TitlesOfParts>
    <vt:vector size="27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BULLBEAR APLIKACIJA</vt:lpstr>
      <vt:lpstr>Sadržaj</vt:lpstr>
      <vt:lpstr>Članovi grupe</vt:lpstr>
      <vt:lpstr>O projektu</vt:lpstr>
      <vt:lpstr>Pregled zahtjeva</vt:lpstr>
      <vt:lpstr>Pregled zahtjeva</vt:lpstr>
      <vt:lpstr>UML dijagram obrazaca uporabe</vt:lpstr>
      <vt:lpstr>Arhitektura sustava</vt:lpstr>
      <vt:lpstr>Ispitivanje</vt:lpstr>
      <vt:lpstr>Korišteni alati i tehnologije</vt:lpstr>
      <vt:lpstr>Organizacija rada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Antun Silov</cp:lastModifiedBy>
  <cp:revision>22</cp:revision>
  <dcterms:created xsi:type="dcterms:W3CDTF">2016-01-18T13:10:52Z</dcterms:created>
  <dcterms:modified xsi:type="dcterms:W3CDTF">2026-01-23T17:22:19Z</dcterms:modified>
</cp:coreProperties>
</file>