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77" r:id="rId5"/>
    <p:sldId id="280" r:id="rId6"/>
    <p:sldId id="278" r:id="rId7"/>
    <p:sldId id="295" r:id="rId8"/>
    <p:sldId id="279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</p:sldIdLst>
  <p:sldSz cx="12192000" cy="6858000"/>
  <p:notesSz cx="6858000" cy="9144000"/>
  <p:defaultTextStyle>
    <a:defPPr rtl="0">
      <a:defRPr lang="hr-h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 zaglavlj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r-HR" dirty="0"/>
          </a:p>
        </p:txBody>
      </p:sp>
      <p:sp>
        <p:nvSpPr>
          <p:cNvPr id="3" name="Rezervirano mjesto za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3A2989E-F9C6-4F61-8046-7E513F54136A}" type="datetime1">
              <a:rPr lang="hr-HR" smtClean="0"/>
              <a:t>11.11.2025.</a:t>
            </a:fld>
            <a:endParaRPr lang="hr-HR" dirty="0"/>
          </a:p>
        </p:txBody>
      </p:sp>
      <p:sp>
        <p:nvSpPr>
          <p:cNvPr id="4" name="Rezervirano mjesto za podnožj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r-HR" dirty="0"/>
          </a:p>
        </p:txBody>
      </p:sp>
      <p:sp>
        <p:nvSpPr>
          <p:cNvPr id="5" name="Rezervirano mjesto za broj slajd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B143E41-8FAC-495B-8904-B43B013F90A3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91304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 zaglavlj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r-HR" noProof="0" dirty="0"/>
          </a:p>
        </p:txBody>
      </p:sp>
      <p:sp>
        <p:nvSpPr>
          <p:cNvPr id="3" name="Rezervirano mjesto za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A1970-C051-407A-9B68-FF7EF902EB72}" type="datetime1">
              <a:rPr lang="hr-HR" smtClean="0"/>
              <a:pPr/>
              <a:t>11.11.2025.</a:t>
            </a:fld>
            <a:endParaRPr lang="hr-HR" dirty="0"/>
          </a:p>
        </p:txBody>
      </p:sp>
      <p:sp>
        <p:nvSpPr>
          <p:cNvPr id="4" name="Rezervirano mjesto za sliku na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hr-HR" noProof="0" dirty="0"/>
          </a:p>
        </p:txBody>
      </p:sp>
      <p:sp>
        <p:nvSpPr>
          <p:cNvPr id="5" name="Rezervirano mjesto za bilješk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r-HR" noProof="0" dirty="0"/>
              <a:t>Kliknite da biste uredili stilove teksta matrice</a:t>
            </a:r>
          </a:p>
          <a:p>
            <a:pPr lvl="1" rtl="0"/>
            <a:r>
              <a:rPr lang="hr-HR" noProof="0" dirty="0"/>
              <a:t>Druga razina</a:t>
            </a:r>
          </a:p>
          <a:p>
            <a:pPr lvl="2" rtl="0"/>
            <a:r>
              <a:rPr lang="hr-HR" noProof="0" dirty="0"/>
              <a:t>Treća razina</a:t>
            </a:r>
          </a:p>
          <a:p>
            <a:pPr lvl="3" rtl="0"/>
            <a:r>
              <a:rPr lang="hr-HR" noProof="0" dirty="0"/>
              <a:t>Četvrta razina</a:t>
            </a:r>
          </a:p>
          <a:p>
            <a:pPr lvl="4" rtl="0"/>
            <a:r>
              <a:rPr lang="hr-HR" noProof="0" dirty="0"/>
              <a:t>Peta razina</a:t>
            </a:r>
          </a:p>
        </p:txBody>
      </p:sp>
      <p:sp>
        <p:nvSpPr>
          <p:cNvPr id="6" name="Rezervirano mjesto za podnožj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r-HR" noProof="0" dirty="0"/>
          </a:p>
        </p:txBody>
      </p:sp>
      <p:sp>
        <p:nvSpPr>
          <p:cNvPr id="7" name="Rezervirano mjesto za broj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946CEE3-4835-4F73-BA0B-02C09C038718}" type="slidenum">
              <a:rPr lang="hr-HR" noProof="0" smtClean="0"/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57908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za bilješk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hr-HR" dirty="0"/>
              <a:t>Za buduće slajdove, redni broj prije natuknice u bilješkama označava na koju natuknicu u prezentaciji se bilješka odnosi.</a:t>
            </a:r>
          </a:p>
        </p:txBody>
      </p:sp>
      <p:sp>
        <p:nvSpPr>
          <p:cNvPr id="4" name="Rezervirano mjesto za broj slajd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946CEE3-4835-4F73-BA0B-02C09C038718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282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46CEE3-4835-4F73-BA0B-02C09C038718}" type="slidenum">
              <a:rPr lang="hr-HR" noProof="0" smtClean="0"/>
              <a:t>2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1718907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za bilješk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r-HR" dirty="0"/>
          </a:p>
        </p:txBody>
      </p:sp>
      <p:sp>
        <p:nvSpPr>
          <p:cNvPr id="4" name="Rezervirano mjesto za broj slajd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946CEE3-4835-4F73-BA0B-02C09C038718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50634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46CEE3-4835-4F73-BA0B-02C09C038718}" type="slidenum">
              <a:rPr lang="hr-HR" noProof="0" smtClean="0"/>
              <a:t>4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1984496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1. Prijava putem Googleovih ili Microsoftovih autorizacijskih sustava.</a:t>
            </a:r>
          </a:p>
          <a:p>
            <a:r>
              <a:rPr lang="hr-HR" dirty="0"/>
              <a:t>2. Podaci su korisničko ime, profilna fotografija i BIO.</a:t>
            </a:r>
          </a:p>
          <a:p>
            <a:r>
              <a:rPr lang="hr-HR" dirty="0"/>
              <a:t>3. Uplata PayPalom ili kartičnim plaćanjem.</a:t>
            </a:r>
          </a:p>
          <a:p>
            <a:r>
              <a:rPr lang="hr-HR" dirty="0"/>
              <a:t>4. Administratori mogu blokirati korisnike.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46CEE3-4835-4F73-BA0B-02C09C038718}" type="slidenum">
              <a:rPr lang="hr-HR" noProof="0" smtClean="0"/>
              <a:t>5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90186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1. Podaci su cijena, </a:t>
            </a:r>
            <a:r>
              <a:rPr lang="hr-HR" dirty="0" err="1"/>
              <a:t>open</a:t>
            </a:r>
            <a:r>
              <a:rPr lang="hr-HR" dirty="0"/>
              <a:t>, </a:t>
            </a:r>
            <a:r>
              <a:rPr lang="hr-HR" dirty="0" err="1"/>
              <a:t>close</a:t>
            </a:r>
            <a:r>
              <a:rPr lang="hr-HR" dirty="0"/>
              <a:t>, </a:t>
            </a:r>
            <a:r>
              <a:rPr lang="hr-HR" dirty="0" err="1"/>
              <a:t>high</a:t>
            </a:r>
            <a:r>
              <a:rPr lang="hr-HR" dirty="0"/>
              <a:t>, </a:t>
            </a:r>
            <a:r>
              <a:rPr lang="hr-HR" dirty="0" err="1"/>
              <a:t>low</a:t>
            </a:r>
            <a:r>
              <a:rPr lang="hr-HR" dirty="0"/>
              <a:t>, volumen i profil korporacije. Koristi se </a:t>
            </a:r>
            <a:r>
              <a:rPr lang="hr-HR" dirty="0" err="1"/>
              <a:t>caching</a:t>
            </a:r>
            <a:r>
              <a:rPr lang="hr-HR" dirty="0"/>
              <a:t> radi bržeg pristupa i smanjenog opterećenja API-ja.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46CEE3-4835-4F73-BA0B-02C09C038718}" type="slidenum">
              <a:rPr lang="hr-HR" noProof="0" smtClean="0"/>
              <a:t>6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707709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3. Sustav će prikazati sve relevantne grafove portfelja.</a:t>
            </a:r>
          </a:p>
          <a:p>
            <a:r>
              <a:rPr lang="hr-HR" dirty="0"/>
              <a:t>4. Korisnik može po volji kreirati, preimenovati i brisati portfelje.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46CEE3-4835-4F73-BA0B-02C09C038718}" type="slidenum">
              <a:rPr lang="hr-HR" noProof="0" smtClean="0"/>
              <a:t>7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271071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1. Tržišni indeksi s kojima će se uspoređivati su S&amp;P 500, NASDAQ i EURONEXT 100.</a:t>
            </a:r>
          </a:p>
          <a:p>
            <a:r>
              <a:rPr lang="hr-HR" dirty="0"/>
              <a:t>2. Među pokazateljima rizika su volatilnost i beta vrijednost.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46CEE3-4835-4F73-BA0B-02C09C038718}" type="slidenum">
              <a:rPr lang="hr-HR" noProof="0" smtClean="0"/>
              <a:t>8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2276806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1. Za transakcije se bilježe vrijeme, simbol, opis, tip, količina, cijena i klasa.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46CEE3-4835-4F73-BA0B-02C09C038718}" type="slidenum">
              <a:rPr lang="hr-HR" noProof="0" smtClean="0"/>
              <a:t>9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1471997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46CEE3-4835-4F73-BA0B-02C09C038718}" type="slidenum">
              <a:rPr lang="hr-HR" noProof="0" smtClean="0"/>
              <a:t>10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920685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2. U fond se, osim instrumenata, mogu dodavati i članovi. Fondovi se mogu dijeliti.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46CEE3-4835-4F73-BA0B-02C09C038718}" type="slidenum">
              <a:rPr lang="hr-HR" noProof="0" smtClean="0"/>
              <a:t>11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1724349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dirty="0"/>
              <a:t>1. Korisnici mogu međusobno komunicirati, komentirati i dijeliti rezultate simulacija.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dirty="0"/>
              <a:t>2. Privatni profili se ne uključuju na ljestvicu.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46CEE3-4835-4F73-BA0B-02C09C038718}" type="slidenum">
              <a:rPr lang="hr-HR" noProof="0" smtClean="0"/>
              <a:t>12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28816392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46CEE3-4835-4F73-BA0B-02C09C038718}" type="slidenum">
              <a:rPr lang="hr-HR" noProof="0" smtClean="0"/>
              <a:t>13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1250455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946CEE3-4835-4F73-BA0B-02C09C038718}" type="slidenum">
              <a:rPr lang="hr-HR" noProof="0" smtClean="0"/>
              <a:t>14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031672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hr-HR" noProof="0"/>
              <a:t>Kliknite da biste uredili stil podnaslova matrice</a:t>
            </a:r>
            <a:endParaRPr lang="hr-HR" noProof="0" dirty="0"/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B21D4D5C-1A2C-47DD-AFF6-57FB5AED5AF2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3" name="Rezervirano mjesto za sadržaj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hr-HR" noProof="0"/>
              <a:t>Kliknite da biste uredili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 stilove teksta</a:t>
            </a:r>
            <a:endParaRPr lang="hr-HR" noProof="0" dirty="0"/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226C73-51F3-4B6D-96A4-EFDF0B909BAD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3" name="Rezervirano mjesto za tekst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r-HR" noProof="0"/>
              <a:t>Kliknite da biste uredili matrice</a:t>
            </a:r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6A4371-4F58-4032-839F-FDE6A7001273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3" name="Rezervirano mjesto za sadržaj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hr-HR" noProof="0"/>
              <a:t>Kliknite da biste uredili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 stilove teksta</a:t>
            </a:r>
            <a:endParaRPr lang="hr-HR" noProof="0" dirty="0"/>
          </a:p>
        </p:txBody>
      </p:sp>
      <p:sp>
        <p:nvSpPr>
          <p:cNvPr id="4" name="Rezervirano mjesto za sadržaj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hr-HR" noProof="0"/>
              <a:t>Kliknite da biste uredili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 stilove teksta</a:t>
            </a:r>
            <a:endParaRPr lang="hr-HR" noProof="0" dirty="0"/>
          </a:p>
        </p:txBody>
      </p:sp>
      <p:sp>
        <p:nvSpPr>
          <p:cNvPr id="5" name="Rezervirano mjesto za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D2E6708-9919-4FDC-93E8-AF004E335AA6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6" name="Rezervirano mjesto za podnožj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7" name="Rezervirano mjesto za broj slajd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3" name="Rezervirano mjesto za tekst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r-HR" noProof="0"/>
              <a:t>Kliknite da biste uredili matrice</a:t>
            </a:r>
          </a:p>
        </p:txBody>
      </p:sp>
      <p:sp>
        <p:nvSpPr>
          <p:cNvPr id="4" name="Rezervirano mjesto za sadržaj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hr-HR" noProof="0"/>
              <a:t>Kliknite da biste uredili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 stilove teksta</a:t>
            </a:r>
            <a:endParaRPr lang="hr-HR" noProof="0" dirty="0"/>
          </a:p>
        </p:txBody>
      </p:sp>
      <p:sp>
        <p:nvSpPr>
          <p:cNvPr id="5" name="Rezervirano mjesto za tekst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r-HR" noProof="0"/>
              <a:t>Kliknite da biste uredili matrice</a:t>
            </a:r>
          </a:p>
        </p:txBody>
      </p:sp>
      <p:sp>
        <p:nvSpPr>
          <p:cNvPr id="6" name="Rezervirano mjesto za sadržaj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hr-HR" noProof="0"/>
              <a:t>Kliknite da biste uredili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 stilove teksta</a:t>
            </a:r>
            <a:endParaRPr lang="hr-HR" noProof="0" dirty="0"/>
          </a:p>
        </p:txBody>
      </p:sp>
      <p:sp>
        <p:nvSpPr>
          <p:cNvPr id="7" name="Rezervirano mjesto za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1E97BA-69B3-45E5-8898-D02EEAB8B92F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8" name="Rezervirano mjesto za podnožj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9" name="Rezervirano mjesto za broj slajd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3" name="Rezervirano mjesto za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621001-3A4C-4847-B6E9-3F381CC3375C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4" name="Rezervirano mjesto za podnožj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5" name="Rezervirano mjesto za broj slajd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ezervirano mjesto za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FBE10E-9013-495A-BB35-9D4FF4579DAF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3" name="Rezervirano mjesto za podnožj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4" name="Rezervirano mjesto za broj slajd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3" name="Rezervirano mjesto za sadržaj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hr-HR" noProof="0"/>
              <a:t>Kliknite da biste uredili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 stilove teksta</a:t>
            </a:r>
            <a:endParaRPr lang="hr-HR" noProof="0" dirty="0"/>
          </a:p>
        </p:txBody>
      </p:sp>
      <p:sp>
        <p:nvSpPr>
          <p:cNvPr id="4" name="Rezervirano mjesto za tekst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r-HR" noProof="0"/>
              <a:t>Kliknite da biste uredili matrice</a:t>
            </a:r>
          </a:p>
        </p:txBody>
      </p:sp>
      <p:sp>
        <p:nvSpPr>
          <p:cNvPr id="5" name="Rezervirano mjesto za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5607A9-C873-4E4C-A986-96C8EE8299FD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6" name="Rezervirano mjesto za podnožj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7" name="Rezervirano mjesto za broj slajd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14" name="Rezervirano mjesto za sliku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r-HR" noProof="0"/>
              <a:t>Kliknite ikonu da biste dodali  sliku</a:t>
            </a:r>
            <a:endParaRPr lang="hr-HR" noProof="0" dirty="0"/>
          </a:p>
        </p:txBody>
      </p:sp>
      <p:sp>
        <p:nvSpPr>
          <p:cNvPr id="4" name="Rezervirano mjesto za tekst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r-HR" noProof="0"/>
              <a:t>Kliknite da biste uredili matrice</a:t>
            </a:r>
          </a:p>
        </p:txBody>
      </p:sp>
      <p:sp>
        <p:nvSpPr>
          <p:cNvPr id="5" name="Rezervirano mjesto za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5CEF01-968D-486B-ACD3-7A1BC170FDED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6" name="Rezervirano mjesto za podnožj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7" name="Rezervirano mjesto za broj slajd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3" name="Rezervirano mjesto za sliku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r-HR" noProof="0"/>
              <a:t>Kliknite ikonu da biste dodali  sliku</a:t>
            </a:r>
            <a:endParaRPr lang="hr-HR" noProof="0" dirty="0"/>
          </a:p>
        </p:txBody>
      </p:sp>
      <p:sp>
        <p:nvSpPr>
          <p:cNvPr id="4" name="Rezervirano mjesto za tekst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r-HR" noProof="0"/>
              <a:t>Kliknite da biste uredili matrice</a:t>
            </a:r>
          </a:p>
        </p:txBody>
      </p:sp>
      <p:sp>
        <p:nvSpPr>
          <p:cNvPr id="5" name="Rezervirano mjesto za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1CB24F-4274-42FB-B6AE-F51337E2E5C3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6" name="Rezervirano mjesto za podnožj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7" name="Rezervirano mjesto za broj slajd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3" name="Rezervirano mjesto za tekst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r-HR" noProof="0"/>
              <a:t>Kliknite da biste uredili matrice</a:t>
            </a:r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BC7FF4-BADB-4BF2-9120-467E7BA5291B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ka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kstni okvir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hr-HR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kstni okvir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hr-HR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10" name="Rezervirano mjesto za tekst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hr-HR" noProof="0"/>
              <a:t>Kliknite da biste uredili matrice</a:t>
            </a:r>
          </a:p>
        </p:txBody>
      </p:sp>
      <p:sp>
        <p:nvSpPr>
          <p:cNvPr id="3" name="Rezervirano mjesto za tekst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r-HR" noProof="0"/>
              <a:t>Kliknite da biste uredili matrice</a:t>
            </a:r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1E0914E-A053-45DA-B6C3-819B54DDC8AB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3" name="Rezervirano mjesto za tekst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r-HR" noProof="0"/>
              <a:t>Kliknite da biste uredili matrice</a:t>
            </a:r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08C74E0-4BD1-4204-9566-CCCE53F6E59E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 pon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ka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kstni okvir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hr-HR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kstni okvir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hr-HR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Naslov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10" name="Rezervirano mjesto za tekst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hr-HR" noProof="0"/>
              <a:t>Kliknite da biste uredili matrice</a:t>
            </a:r>
          </a:p>
        </p:txBody>
      </p:sp>
      <p:sp>
        <p:nvSpPr>
          <p:cNvPr id="3" name="Rezervirano mjesto za tekst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r-HR" noProof="0"/>
              <a:t>Kliknite da biste uredili matrice</a:t>
            </a:r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788EF8-BB34-4D35-924D-5AD7136F3210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ili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10" name="Rezervirano mjesto za tekst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hr-HR" noProof="0"/>
              <a:t>Kliknite da biste uredili matrice</a:t>
            </a:r>
          </a:p>
        </p:txBody>
      </p:sp>
      <p:sp>
        <p:nvSpPr>
          <p:cNvPr id="3" name="Rezervirano mjesto za tekst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r-HR" noProof="0"/>
              <a:t>Kliknite da biste uredili matrice</a:t>
            </a:r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4F8520-D5F2-4D0A-9AAE-089DF479FF53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Okomiti tekst s rezerviranim mjestom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hr-HR" noProof="0"/>
              <a:t>Kliknite da biste uredili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 stilove teksta</a:t>
            </a:r>
            <a:endParaRPr lang="hr-HR" noProof="0" dirty="0"/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234883D-652F-4A7D-8010-92C08DA75B0F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  <p:sp>
        <p:nvSpPr>
          <p:cNvPr id="8" name="Naslov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hr-HR" noProof="0"/>
              <a:t>Kliknite da biste uredili stil naslova matrice</a:t>
            </a:r>
            <a:endParaRPr lang="hr-HR" noProof="0" dirty="0"/>
          </a:p>
        </p:txBody>
      </p:sp>
      <p:sp>
        <p:nvSpPr>
          <p:cNvPr id="3" name="Okomiti tekst s rezerviranim mjestom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hr-HR" noProof="0"/>
              <a:t>Kliknite da biste uredili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 stilove teksta</a:t>
            </a:r>
            <a:endParaRPr lang="hr-HR" noProof="0" dirty="0"/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BDA404-83D9-4D02-8A73-C36527FC6B91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r-HR" noProof="0" dirty="0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 naslov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hr-HR" noProof="0" dirty="0"/>
              <a:t>Kliknite da biste uredili stil naslova matrice</a:t>
            </a:r>
          </a:p>
        </p:txBody>
      </p:sp>
      <p:sp>
        <p:nvSpPr>
          <p:cNvPr id="3" name="Rezervirano mjesto za tekst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hr-HR" noProof="0" dirty="0"/>
              <a:t>Kliknite da biste uredili stilove teksta matrice</a:t>
            </a:r>
          </a:p>
          <a:p>
            <a:pPr lvl="1" rtl="0"/>
            <a:r>
              <a:rPr lang="hr-HR" noProof="0" dirty="0"/>
              <a:t>Druga razina</a:t>
            </a:r>
          </a:p>
          <a:p>
            <a:pPr lvl="2" rtl="0"/>
            <a:r>
              <a:rPr lang="hr-HR" noProof="0" dirty="0"/>
              <a:t>Treća razina</a:t>
            </a:r>
          </a:p>
          <a:p>
            <a:pPr lvl="3" rtl="0"/>
            <a:r>
              <a:rPr lang="hr-HR" noProof="0" dirty="0"/>
              <a:t>Četvrta razina</a:t>
            </a:r>
          </a:p>
          <a:p>
            <a:pPr lvl="4" rtl="0"/>
            <a:r>
              <a:rPr lang="hr-HR" noProof="0" dirty="0"/>
              <a:t>Peta razina</a:t>
            </a:r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EA0C516F-169B-4514-A046-9C57CF5646AE}" type="datetime1">
              <a:rPr lang="hr-HR" noProof="0" smtClean="0"/>
              <a:t>11.11.2025.</a:t>
            </a:fld>
            <a:endParaRPr lang="hr-HR" noProof="0" dirty="0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hr-HR" noProof="0" dirty="0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hr-HR" noProof="0" smtClean="0"/>
              <a:pPr/>
              <a:t>‹#›</a:t>
            </a:fld>
            <a:endParaRPr lang="hr-HR" noProof="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eps.python.org/pep-0008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bullbear-v2.surge.sh/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hrabar/BullBear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pixabay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Pravokutnik 88">
            <a:extLst>
              <a:ext uri="{FF2B5EF4-FFF2-40B4-BE49-F238E27FC236}">
                <a16:creationId xmlns:a16="http://schemas.microsoft.com/office/drawing/2014/main" id="{3D1E5586-8BB5-40F6-96C3-2E87DD7CE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r-HR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63E3F80-D945-4490-916D-6384E6895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3805" y="1354668"/>
            <a:ext cx="8204391" cy="2346475"/>
          </a:xfrm>
        </p:spPr>
        <p:txBody>
          <a:bodyPr rtlCol="0">
            <a:normAutofit/>
          </a:bodyPr>
          <a:lstStyle/>
          <a:p>
            <a:pPr algn="ctr"/>
            <a:r>
              <a:rPr lang="hr-HR" sz="6600" dirty="0" err="1"/>
              <a:t>Bullbear</a:t>
            </a:r>
            <a:r>
              <a:rPr lang="hr-HR" sz="6600" dirty="0"/>
              <a:t> </a:t>
            </a:r>
            <a:br>
              <a:rPr lang="hr-HR" sz="6600" dirty="0"/>
            </a:br>
            <a:r>
              <a:rPr lang="hr-HR" sz="6600" dirty="0"/>
              <a:t>brokerska aplikacija</a:t>
            </a:r>
          </a:p>
        </p:txBody>
      </p:sp>
      <p:cxnSp>
        <p:nvCxnSpPr>
          <p:cNvPr id="91" name="Ravni poveznik 90">
            <a:extLst>
              <a:ext uri="{FF2B5EF4-FFF2-40B4-BE49-F238E27FC236}">
                <a16:creationId xmlns:a16="http://schemas.microsoft.com/office/drawing/2014/main" id="{8A832D40-B9E2-4CE7-9E0A-B35591EA2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3810000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odnaslov 2">
            <a:extLst>
              <a:ext uri="{FF2B5EF4-FFF2-40B4-BE49-F238E27FC236}">
                <a16:creationId xmlns:a16="http://schemas.microsoft.com/office/drawing/2014/main" id="{616351BD-4BE1-47AD-8B65-1472A3BE6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7137" y="3940629"/>
            <a:ext cx="7197726" cy="1240970"/>
          </a:xfrm>
        </p:spPr>
        <p:txBody>
          <a:bodyPr rtlCol="0">
            <a:normAutofit/>
          </a:bodyPr>
          <a:lstStyle/>
          <a:p>
            <a:pPr algn="ctr" rtl="0"/>
            <a:r>
              <a:rPr lang="hr-HR" sz="3600" dirty="0"/>
              <a:t>Tim BULLBEAR</a:t>
            </a:r>
          </a:p>
        </p:txBody>
      </p:sp>
    </p:spTree>
    <p:extLst>
      <p:ext uri="{BB962C8B-B14F-4D97-AF65-F5344CB8AC3E}">
        <p14:creationId xmlns:p14="http://schemas.microsoft.com/office/powerpoint/2010/main" val="2803136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5135F29-D4F1-CC54-736D-F0E698FD3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7137" y="1620139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hr-HR" sz="6000" dirty="0"/>
              <a:t>SVEUKUPNI CILJEVI PROJEKTA</a:t>
            </a:r>
          </a:p>
        </p:txBody>
      </p:sp>
    </p:spTree>
    <p:extLst>
      <p:ext uri="{BB962C8B-B14F-4D97-AF65-F5344CB8AC3E}">
        <p14:creationId xmlns:p14="http://schemas.microsoft.com/office/powerpoint/2010/main" val="3284281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659A64C-EA0D-4DC2-A8C5-C88EFBF64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 anchor="ctr">
            <a:normAutofit/>
          </a:bodyPr>
          <a:lstStyle/>
          <a:p>
            <a:r>
              <a:rPr lang="hr-HR" sz="5400" dirty="0"/>
              <a:t>GLAVNI CILJEVI</a:t>
            </a:r>
          </a:p>
        </p:txBody>
      </p:sp>
      <p:sp>
        <p:nvSpPr>
          <p:cNvPr id="3" name="Rezervirano mjesto za sadržaj 2">
            <a:extLst>
              <a:ext uri="{FF2B5EF4-FFF2-40B4-BE49-F238E27FC236}">
                <a16:creationId xmlns:a16="http://schemas.microsoft.com/office/drawing/2014/main" id="{25AADCBA-8B92-4FBD-B325-3AA53CFF9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 anchor="ctr">
            <a:normAutofit/>
          </a:bodyPr>
          <a:lstStyle/>
          <a:p>
            <a:pPr rtl="0"/>
            <a:r>
              <a:rPr lang="hr-HR" sz="2400" dirty="0"/>
              <a:t>Stvoriti aplikaciju za simulirano trgovanje burzovnim instrumentima</a:t>
            </a:r>
          </a:p>
          <a:p>
            <a:pPr rtl="0"/>
            <a:r>
              <a:rPr lang="hr-HR" sz="2400" dirty="0"/>
              <a:t>Korisnicima omogućava sigurno testiranje strategija trgovanja, bez gubitka stvarnog kapitala</a:t>
            </a:r>
          </a:p>
          <a:p>
            <a:pPr rtl="0"/>
            <a:r>
              <a:rPr lang="hr-HR" sz="2400" dirty="0"/>
              <a:t>Korisnici će moći međusobno dijeliti svoje odabrane fondove, te njihov uspjeh u trgovanju može biti vidljiv na ljestvici korisnika</a:t>
            </a:r>
          </a:p>
        </p:txBody>
      </p:sp>
      <p:pic>
        <p:nvPicPr>
          <p:cNvPr id="7" name="Slika 6" descr="Slika na kojoj se prikazuje snimka zaslona, svijeća, grafika, krug&#10;&#10;Sadržaj generiran uz AI možda nije točan.">
            <a:extLst>
              <a:ext uri="{FF2B5EF4-FFF2-40B4-BE49-F238E27FC236}">
                <a16:creationId xmlns:a16="http://schemas.microsoft.com/office/drawing/2014/main" id="{B305E47E-6B98-9D6D-735B-6661541D1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994" y="2142067"/>
            <a:ext cx="3649133" cy="36491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6764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8CF31BB-8B88-B815-3B95-D51A68B2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6000" dirty="0"/>
              <a:t>FUNKCIJSKI ZAHTJEVI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25FF2B79-92ED-A4C5-9DAB-083A3C7E8E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hr-HR" sz="2400" dirty="0"/>
              <a:t>Autentifikacija i korisnički sustav</a:t>
            </a:r>
          </a:p>
          <a:p>
            <a:r>
              <a:rPr lang="hr-HR" sz="2400" dirty="0"/>
              <a:t>Tržišni podaci</a:t>
            </a:r>
          </a:p>
          <a:p>
            <a:r>
              <a:rPr lang="hr-HR" sz="2400" dirty="0"/>
              <a:t>Trgovanje i portfolio</a:t>
            </a:r>
          </a:p>
          <a:p>
            <a:r>
              <a:rPr lang="hr-HR" sz="2400" dirty="0"/>
              <a:t>Analitika</a:t>
            </a:r>
          </a:p>
          <a:p>
            <a:endParaRPr lang="hr-HR" dirty="0"/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2D55DC2F-9BFB-58D9-A3ED-5403C707B8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hr-HR" sz="2400" dirty="0"/>
              <a:t>Uvoz i izvoz podataka</a:t>
            </a:r>
          </a:p>
          <a:p>
            <a:r>
              <a:rPr lang="hr-HR" sz="2400" dirty="0"/>
              <a:t>Ljestvica</a:t>
            </a:r>
          </a:p>
          <a:p>
            <a:r>
              <a:rPr lang="hr-HR" sz="2400" dirty="0"/>
              <a:t>Mini fondovi</a:t>
            </a:r>
          </a:p>
          <a:p>
            <a:r>
              <a:rPr lang="hr-HR" sz="2400" dirty="0"/>
              <a:t>Društvene funkcionalnosti</a:t>
            </a:r>
          </a:p>
          <a:p>
            <a:endParaRPr lang="hr-HR" dirty="0"/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D751578C-C713-E9B0-0D2C-CD50F9F3AC5D}"/>
              </a:ext>
            </a:extLst>
          </p:cNvPr>
          <p:cNvSpPr txBox="1"/>
          <p:nvPr/>
        </p:nvSpPr>
        <p:spPr>
          <a:xfrm>
            <a:off x="3382896" y="2065867"/>
            <a:ext cx="5426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/>
              <a:t>Podijeljeni po grupama:</a:t>
            </a:r>
          </a:p>
        </p:txBody>
      </p:sp>
    </p:spTree>
    <p:extLst>
      <p:ext uri="{BB962C8B-B14F-4D97-AF65-F5344CB8AC3E}">
        <p14:creationId xmlns:p14="http://schemas.microsoft.com/office/powerpoint/2010/main" val="562214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C306293-DC30-9E4F-BA9F-C573A198D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anchor="ctr">
            <a:normAutofit/>
          </a:bodyPr>
          <a:lstStyle/>
          <a:p>
            <a:r>
              <a:rPr lang="hr-HR" sz="4800" dirty="0"/>
              <a:t>AUTENTIFIKACIJA I KORISNIČKI SUSTAV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734CA95-5C83-D321-3DC1-85CC13774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anchor="ctr">
            <a:normAutofit fontScale="85000" lnSpcReduction="10000"/>
          </a:bodyPr>
          <a:lstStyle/>
          <a:p>
            <a:r>
              <a:rPr lang="hr-HR" sz="3200" dirty="0"/>
              <a:t>Prijava i odjava iz sustava</a:t>
            </a:r>
          </a:p>
          <a:p>
            <a:r>
              <a:rPr lang="hr-HR" sz="3200" dirty="0"/>
              <a:t>Upravljanje korisničkim računom i njegovim podacima</a:t>
            </a:r>
          </a:p>
          <a:p>
            <a:r>
              <a:rPr lang="hr-HR" sz="3200" dirty="0"/>
              <a:t>Kupnja i obnova </a:t>
            </a:r>
            <a:r>
              <a:rPr lang="hr-HR" sz="3200" dirty="0" err="1"/>
              <a:t>premium</a:t>
            </a:r>
            <a:r>
              <a:rPr lang="hr-HR" sz="3200" dirty="0"/>
              <a:t> pretplate</a:t>
            </a:r>
          </a:p>
          <a:p>
            <a:r>
              <a:rPr lang="hr-HR" sz="3200" dirty="0"/>
              <a:t>Administratori postavljaju cijenu pretplate i upravljaju korisnicima</a:t>
            </a:r>
          </a:p>
        </p:txBody>
      </p:sp>
      <p:pic>
        <p:nvPicPr>
          <p:cNvPr id="5" name="Slika 4" descr="Slika na kojoj se prikazuje snimka zaslona, dijagram, dizajn&#10;&#10;Sadržaj generiran uz AI možda nije točan.">
            <a:extLst>
              <a:ext uri="{FF2B5EF4-FFF2-40B4-BE49-F238E27FC236}">
                <a16:creationId xmlns:a16="http://schemas.microsoft.com/office/drawing/2014/main" id="{7CE6CF15-80A1-5DF2-2BDA-67417D0B6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895" y="2299442"/>
            <a:ext cx="4995332" cy="33343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8787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DD3C4A2-2610-A6C4-4B5B-48C432571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anchor="ctr">
            <a:normAutofit/>
          </a:bodyPr>
          <a:lstStyle/>
          <a:p>
            <a:r>
              <a:rPr lang="hr-HR" sz="5400" dirty="0"/>
              <a:t>TRŽIŠNI PODACI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37698B5-8DBA-DBB2-279C-96C17ABEA1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anchor="ctr">
            <a:normAutofit/>
          </a:bodyPr>
          <a:lstStyle/>
          <a:p>
            <a:r>
              <a:rPr lang="hr-HR" sz="3200" dirty="0"/>
              <a:t>Dohvat tržišnih cijena i podataka</a:t>
            </a:r>
          </a:p>
          <a:p>
            <a:r>
              <a:rPr lang="hr-HR" sz="3200" dirty="0"/>
              <a:t>Pretraživanje instrumenata po nazivu</a:t>
            </a:r>
          </a:p>
        </p:txBody>
      </p:sp>
      <p:pic>
        <p:nvPicPr>
          <p:cNvPr id="5" name="Slika 4" descr="Slika na kojoj se prikazuje snimka zaslona, grafika, simbol, logotip&#10;&#10;Sadržaj generiran uz AI možda nije točan.">
            <a:extLst>
              <a:ext uri="{FF2B5EF4-FFF2-40B4-BE49-F238E27FC236}">
                <a16:creationId xmlns:a16="http://schemas.microsoft.com/office/drawing/2014/main" id="{24311757-107E-9E29-4EAE-3DFAD6714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994" y="2142067"/>
            <a:ext cx="3649133" cy="36491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753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DC5A4BE-49E3-2CA1-29DE-477087E95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anchor="ctr">
            <a:normAutofit/>
          </a:bodyPr>
          <a:lstStyle/>
          <a:p>
            <a:r>
              <a:rPr lang="hr-HR" sz="5400" dirty="0"/>
              <a:t>TRGOVANJE I PORTFOLIO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D3F4E8D-B001-5BEF-0677-4D0B2159D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anchor="ctr">
            <a:normAutofit fontScale="92500" lnSpcReduction="10000"/>
          </a:bodyPr>
          <a:lstStyle/>
          <a:p>
            <a:r>
              <a:rPr lang="hr-HR" sz="3200" dirty="0"/>
              <a:t>Simulacija trgovanja instrumentima</a:t>
            </a:r>
          </a:p>
          <a:p>
            <a:r>
              <a:rPr lang="hr-HR" sz="3200" dirty="0"/>
              <a:t>Ažuriranje portfelja nakon transakcije</a:t>
            </a:r>
          </a:p>
          <a:p>
            <a:r>
              <a:rPr lang="hr-HR" sz="3200" dirty="0"/>
              <a:t>Prikaz portfelja</a:t>
            </a:r>
          </a:p>
          <a:p>
            <a:r>
              <a:rPr lang="hr-HR" sz="3200" dirty="0"/>
              <a:t>Upravljanje i brisanje portfelja</a:t>
            </a:r>
          </a:p>
          <a:p>
            <a:endParaRPr lang="hr-HR" dirty="0"/>
          </a:p>
        </p:txBody>
      </p:sp>
      <p:pic>
        <p:nvPicPr>
          <p:cNvPr id="5" name="Slika 4" descr="Slika na kojoj se prikazuje crta, snimka zaslona&#10;&#10;Sadržaj generiran uz AI možda nije točan.">
            <a:extLst>
              <a:ext uri="{FF2B5EF4-FFF2-40B4-BE49-F238E27FC236}">
                <a16:creationId xmlns:a16="http://schemas.microsoft.com/office/drawing/2014/main" id="{DE7BE99B-90C5-5322-F147-E508E3C5A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895" y="2299442"/>
            <a:ext cx="4995332" cy="33343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4818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3D41406-675C-FBC2-EFA3-C2FE6A244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anchor="ctr">
            <a:normAutofit/>
          </a:bodyPr>
          <a:lstStyle/>
          <a:p>
            <a:r>
              <a:rPr lang="hr-HR" sz="6000" dirty="0"/>
              <a:t>ANALITIKA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01A7665-D377-1165-957A-E2536768E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anchor="ctr">
            <a:normAutofit/>
          </a:bodyPr>
          <a:lstStyle/>
          <a:p>
            <a:r>
              <a:rPr lang="hr-HR" sz="2400" dirty="0"/>
              <a:t>Usporedba prinosa s tržišnim indeksima</a:t>
            </a:r>
          </a:p>
          <a:p>
            <a:r>
              <a:rPr lang="hr-HR" sz="2400" dirty="0"/>
              <a:t>Prikaz pokazatelja rizika</a:t>
            </a:r>
          </a:p>
          <a:p>
            <a:endParaRPr lang="hr-HR" dirty="0"/>
          </a:p>
        </p:txBody>
      </p:sp>
      <p:pic>
        <p:nvPicPr>
          <p:cNvPr id="5" name="Slika 4" descr="Slika na kojoj se prikazuje odijevanje, računalo, osoba, snimka zaslona&#10;&#10;Sadržaj generiran uz AI možda nije točan.">
            <a:extLst>
              <a:ext uri="{FF2B5EF4-FFF2-40B4-BE49-F238E27FC236}">
                <a16:creationId xmlns:a16="http://schemas.microsoft.com/office/drawing/2014/main" id="{2C48F958-E390-1DA6-A1CC-CC6CB0C00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899" y="2142067"/>
            <a:ext cx="3695324" cy="36491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248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5A259FE-F260-865E-6827-FDB6FF51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anchor="ctr">
            <a:normAutofit/>
          </a:bodyPr>
          <a:lstStyle/>
          <a:p>
            <a:r>
              <a:rPr lang="hr-HR" sz="5400" dirty="0"/>
              <a:t>UVOZ I IZVOZ PODATAKA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11DA84E-673C-0642-8366-06B28C9C8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anchor="ctr">
            <a:normAutofit/>
          </a:bodyPr>
          <a:lstStyle/>
          <a:p>
            <a:r>
              <a:rPr lang="hr-HR" sz="3200" dirty="0"/>
              <a:t>Uvoz i izvoz CSV datoteka s poviješću transakcija</a:t>
            </a:r>
          </a:p>
        </p:txBody>
      </p:sp>
      <p:pic>
        <p:nvPicPr>
          <p:cNvPr id="5" name="Slika 4" descr="Slika na kojoj se prikazuje žuto, dizajn&#10;&#10;Sadržaj generiran uz AI možda nije točan.">
            <a:extLst>
              <a:ext uri="{FF2B5EF4-FFF2-40B4-BE49-F238E27FC236}">
                <a16:creationId xmlns:a16="http://schemas.microsoft.com/office/drawing/2014/main" id="{4E2B42A2-58CD-1BFC-F01C-EDFA90FAD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294" y="2142067"/>
            <a:ext cx="3010534" cy="36491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941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F9FBD5F-0BB7-72F5-135B-F1F045B4D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anchor="ctr">
            <a:normAutofit/>
          </a:bodyPr>
          <a:lstStyle/>
          <a:p>
            <a:r>
              <a:rPr lang="hr-HR" sz="5400" dirty="0"/>
              <a:t>LJESTVICA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FBBFCE0-C135-1096-E794-D1EFFFA0D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anchor="ctr">
            <a:noAutofit/>
          </a:bodyPr>
          <a:lstStyle/>
          <a:p>
            <a:r>
              <a:rPr lang="hr-HR" sz="2400" dirty="0"/>
              <a:t>Prikaz ljestvice javnih korisnika sortirane prema prinosu</a:t>
            </a:r>
          </a:p>
        </p:txBody>
      </p:sp>
      <p:pic>
        <p:nvPicPr>
          <p:cNvPr id="5" name="Slika 4" descr="Slika na kojoj se prikazuje kontejner, kutija, karton, pakiranje i označavanje&#10;&#10;Sadržaj generiran uz AI možda nije točan.">
            <a:extLst>
              <a:ext uri="{FF2B5EF4-FFF2-40B4-BE49-F238E27FC236}">
                <a16:creationId xmlns:a16="http://schemas.microsoft.com/office/drawing/2014/main" id="{4681217B-293E-2FB3-EBDA-C12F38683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895" y="2455545"/>
            <a:ext cx="4995332" cy="30221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21398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8D92F76-033E-D84B-FCBD-E31C3324B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anchor="ctr">
            <a:normAutofit/>
          </a:bodyPr>
          <a:lstStyle/>
          <a:p>
            <a:r>
              <a:rPr lang="hr-HR" sz="6000" dirty="0"/>
              <a:t>MINI FONDOVI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C448EE4-A70D-60DF-ACB1-DCAF2F517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anchor="ctr">
            <a:noAutofit/>
          </a:bodyPr>
          <a:lstStyle/>
          <a:p>
            <a:r>
              <a:rPr lang="hr-HR" sz="2800" dirty="0"/>
              <a:t>Popis instrumenata koje korisnik može stvoriti</a:t>
            </a:r>
          </a:p>
          <a:p>
            <a:r>
              <a:rPr lang="hr-HR" sz="2800" dirty="0"/>
              <a:t>Upravljanje instrumentima u fondu</a:t>
            </a:r>
          </a:p>
          <a:p>
            <a:r>
              <a:rPr lang="hr-HR" sz="2800" dirty="0"/>
              <a:t>Dodavanje i uklanjanje instrumenata iz fondova</a:t>
            </a:r>
          </a:p>
        </p:txBody>
      </p:sp>
      <p:pic>
        <p:nvPicPr>
          <p:cNvPr id="5" name="Slika 4" descr="Slika na kojoj se prikazuje snimka zaslona, grafika, Trokut, grafički dizajn&#10;&#10;Sadržaj generiran uz AI možda nije točan.">
            <a:extLst>
              <a:ext uri="{FF2B5EF4-FFF2-40B4-BE49-F238E27FC236}">
                <a16:creationId xmlns:a16="http://schemas.microsoft.com/office/drawing/2014/main" id="{2314F5EB-F440-6505-E98D-9DC8C81AC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458" y="2142067"/>
            <a:ext cx="4344205" cy="36491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837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1140469-AF67-9878-50D9-310DED3DA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anchor="ctr">
            <a:normAutofit/>
          </a:bodyPr>
          <a:lstStyle/>
          <a:p>
            <a:r>
              <a:rPr lang="hr-HR" sz="4800" dirty="0"/>
              <a:t>DRUŠTVENE FUNKCIONALNOSTI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CDC2426-FF95-08A1-9D6F-BB1FAFCA4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anchor="ctr">
            <a:normAutofit/>
          </a:bodyPr>
          <a:lstStyle/>
          <a:p>
            <a:r>
              <a:rPr lang="hr-HR" sz="2800" dirty="0"/>
              <a:t>Interakcija s drugim korisnicima</a:t>
            </a:r>
          </a:p>
          <a:p>
            <a:r>
              <a:rPr lang="hr-HR" sz="2800" dirty="0"/>
              <a:t>Biranje između javnog ili privatnog profila</a:t>
            </a:r>
          </a:p>
        </p:txBody>
      </p:sp>
      <p:pic>
        <p:nvPicPr>
          <p:cNvPr id="5" name="Slika 4" descr="Slika na kojoj se prikazuje logotip, simbol, crveno, komplet za prvu pomoć&#10;&#10;Sadržaj generiran uz AI možda nije točan.">
            <a:extLst>
              <a:ext uri="{FF2B5EF4-FFF2-40B4-BE49-F238E27FC236}">
                <a16:creationId xmlns:a16="http://schemas.microsoft.com/office/drawing/2014/main" id="{A9AF9D95-D9E8-6F9F-C8BC-B348D1B91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895" y="2717800"/>
            <a:ext cx="4995332" cy="24976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381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9D4CC86-E8E0-D235-74BF-35098E5A0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5400" dirty="0"/>
              <a:t>NEFUNKCIJSKI ZAHTJEVI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7F85E91-D650-9A43-8FC6-3B7469A03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1" y="2142067"/>
            <a:ext cx="10631127" cy="3649134"/>
          </a:xfrm>
        </p:spPr>
        <p:txBody>
          <a:bodyPr>
            <a:noAutofit/>
          </a:bodyPr>
          <a:lstStyle/>
          <a:p>
            <a:r>
              <a:rPr lang="hr-HR" sz="2800" dirty="0"/>
              <a:t>Jednostavno održavanje</a:t>
            </a:r>
          </a:p>
          <a:p>
            <a:r>
              <a:rPr lang="hr-HR" sz="2800" dirty="0"/>
              <a:t>Dovoljna dokumentacija</a:t>
            </a:r>
          </a:p>
          <a:p>
            <a:r>
              <a:rPr lang="hr-HR" sz="2800" dirty="0"/>
              <a:t>Opis putem dokumenta oblikovanja /SRS/</a:t>
            </a:r>
          </a:p>
          <a:p>
            <a:r>
              <a:rPr lang="hr-HR" sz="2800" dirty="0"/>
              <a:t>„Priručnik za rad” opisuje pravilnu upotrebu sustava</a:t>
            </a:r>
          </a:p>
          <a:p>
            <a:r>
              <a:rPr lang="hr-HR" sz="2800" dirty="0"/>
              <a:t>„Plan implementacije” za pravilno postavljanje sustava</a:t>
            </a:r>
          </a:p>
          <a:p>
            <a:r>
              <a:rPr lang="hr-HR" sz="2800" dirty="0"/>
              <a:t>Kôd dokumentiran i napisan prema </a:t>
            </a:r>
            <a:r>
              <a:rPr lang="hr-HR" sz="2800" u="sng" dirty="0">
                <a:hlinkClick r:id="rId3"/>
              </a:rPr>
              <a:t>"PEP 8 – </a:t>
            </a:r>
            <a:r>
              <a:rPr lang="hr-HR" sz="2800" u="sng" dirty="0" err="1">
                <a:hlinkClick r:id="rId3"/>
              </a:rPr>
              <a:t>Style</a:t>
            </a:r>
            <a:r>
              <a:rPr lang="hr-HR" sz="2800" u="sng" dirty="0">
                <a:hlinkClick r:id="rId3"/>
              </a:rPr>
              <a:t> </a:t>
            </a:r>
            <a:r>
              <a:rPr lang="hr-HR" sz="2800" u="sng" dirty="0" err="1">
                <a:hlinkClick r:id="rId3"/>
              </a:rPr>
              <a:t>Guide</a:t>
            </a:r>
            <a:r>
              <a:rPr lang="hr-HR" sz="2800" u="sng" dirty="0">
                <a:hlinkClick r:id="rId3"/>
              </a:rPr>
              <a:t> for Python </a:t>
            </a:r>
            <a:r>
              <a:rPr lang="hr-HR" sz="2800" u="sng" dirty="0" err="1">
                <a:hlinkClick r:id="rId3"/>
              </a:rPr>
              <a:t>Code</a:t>
            </a:r>
            <a:r>
              <a:rPr lang="hr-HR" sz="2800" u="sng" dirty="0">
                <a:hlinkClick r:id="rId3"/>
              </a:rPr>
              <a:t>"</a:t>
            </a:r>
            <a:endParaRPr lang="hr-HR" sz="2800" dirty="0"/>
          </a:p>
        </p:txBody>
      </p:sp>
    </p:spTree>
    <p:extLst>
      <p:ext uri="{BB962C8B-B14F-4D97-AF65-F5344CB8AC3E}">
        <p14:creationId xmlns:p14="http://schemas.microsoft.com/office/powerpoint/2010/main" val="144205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D028E6E-23A2-421A-B5EC-A867BFBC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anchor="ctr">
            <a:normAutofit/>
          </a:bodyPr>
          <a:lstStyle/>
          <a:p>
            <a:r>
              <a:rPr lang="hr-HR" sz="4800" dirty="0"/>
              <a:t>ČLANOVI TIMA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746129-F8E6-931D-A6E9-0AF49907D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anchor="ctr">
            <a:noAutofit/>
          </a:bodyPr>
          <a:lstStyle/>
          <a:p>
            <a:r>
              <a:rPr lang="hr-HR" sz="2800" dirty="0"/>
              <a:t>Šesteročlani tim:</a:t>
            </a:r>
          </a:p>
          <a:p>
            <a:r>
              <a:rPr lang="hr-HR" sz="2800" dirty="0"/>
              <a:t>Vedran Hrabar</a:t>
            </a:r>
          </a:p>
          <a:p>
            <a:r>
              <a:rPr lang="hr-HR" sz="2800" dirty="0"/>
              <a:t>Viktor Lazić</a:t>
            </a:r>
          </a:p>
          <a:p>
            <a:r>
              <a:rPr lang="hr-HR" sz="2800" dirty="0"/>
              <a:t>Vedran </a:t>
            </a:r>
            <a:r>
              <a:rPr lang="hr-HR" sz="2800" dirty="0" err="1"/>
              <a:t>Radojčić</a:t>
            </a:r>
            <a:endParaRPr lang="hr-HR" sz="2800" dirty="0"/>
          </a:p>
          <a:p>
            <a:r>
              <a:rPr lang="hr-HR" sz="2800" dirty="0"/>
              <a:t>Antun </a:t>
            </a:r>
            <a:r>
              <a:rPr lang="hr-HR" sz="2800" dirty="0" err="1"/>
              <a:t>Silov</a:t>
            </a:r>
            <a:endParaRPr lang="hr-HR" sz="2800" dirty="0"/>
          </a:p>
          <a:p>
            <a:r>
              <a:rPr lang="hr-HR" sz="2800" dirty="0"/>
              <a:t>Luka Varga</a:t>
            </a:r>
          </a:p>
          <a:p>
            <a:r>
              <a:rPr lang="hr-HR" sz="2800" dirty="0"/>
              <a:t>Leon Zorko</a:t>
            </a:r>
          </a:p>
        </p:txBody>
      </p:sp>
      <p:pic>
        <p:nvPicPr>
          <p:cNvPr id="7" name="Slika 6" descr="Slika na kojoj se prikazuje crno, tama&#10;&#10;Sadržaj generiran uz AI možda nije točan.">
            <a:extLst>
              <a:ext uri="{FF2B5EF4-FFF2-40B4-BE49-F238E27FC236}">
                <a16:creationId xmlns:a16="http://schemas.microsoft.com/office/drawing/2014/main" id="{17B9F14C-78C7-37D8-6FC2-5D6A1F6DC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440" y="2142067"/>
            <a:ext cx="4016242" cy="36491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3549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F101FE0-42FB-F740-42B4-A49D97FD3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anchor="ctr">
            <a:normAutofit/>
          </a:bodyPr>
          <a:lstStyle/>
          <a:p>
            <a:r>
              <a:rPr lang="hr-HR" sz="5400" dirty="0"/>
              <a:t>TRENUTNO STANJE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843176B-04BD-EABD-C409-3EC1423CB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anchor="ctr">
            <a:normAutofit/>
          </a:bodyPr>
          <a:lstStyle/>
          <a:p>
            <a:r>
              <a:rPr lang="hr-HR" sz="2800" dirty="0"/>
              <a:t>Postavljen </a:t>
            </a:r>
            <a:r>
              <a:rPr lang="hr-HR" sz="2800" dirty="0" err="1"/>
              <a:t>GitHub</a:t>
            </a:r>
            <a:r>
              <a:rPr lang="hr-HR" sz="2800" dirty="0"/>
              <a:t> repozitorij za rad na projektu</a:t>
            </a:r>
          </a:p>
          <a:p>
            <a:r>
              <a:rPr lang="hr-HR" sz="2800" dirty="0"/>
              <a:t>Postavljeni (ne)funkcijski zahtjevi projekta</a:t>
            </a:r>
          </a:p>
          <a:p>
            <a:r>
              <a:rPr lang="hr-HR" sz="2800" dirty="0"/>
              <a:t>Postavljen kostur wikija</a:t>
            </a:r>
          </a:p>
          <a:p>
            <a:r>
              <a:rPr lang="hr-HR" sz="2800" dirty="0"/>
              <a:t>Prototip početne stranice aplikacije</a:t>
            </a:r>
          </a:p>
        </p:txBody>
      </p:sp>
      <p:pic>
        <p:nvPicPr>
          <p:cNvPr id="5" name="Slika 4" descr="Slika na kojoj se prikazuje krug, grafika, snimka zaslona, šarenilo&#10;&#10;Sadržaj generiran uz AI možda nije točan.">
            <a:extLst>
              <a:ext uri="{FF2B5EF4-FFF2-40B4-BE49-F238E27FC236}">
                <a16:creationId xmlns:a16="http://schemas.microsoft.com/office/drawing/2014/main" id="{2BC1DF49-F449-6891-40FB-554A226D3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994" y="2142067"/>
            <a:ext cx="3649133" cy="36491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14733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niOkvir 1">
            <a:extLst>
              <a:ext uri="{FF2B5EF4-FFF2-40B4-BE49-F238E27FC236}">
                <a16:creationId xmlns:a16="http://schemas.microsoft.com/office/drawing/2014/main" id="{DA46365E-B8DD-575F-E6CA-807217CEA1B4}"/>
              </a:ext>
            </a:extLst>
          </p:cNvPr>
          <p:cNvSpPr txBox="1"/>
          <p:nvPr/>
        </p:nvSpPr>
        <p:spPr>
          <a:xfrm>
            <a:off x="3873908" y="6488668"/>
            <a:ext cx="7492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hlinkClick r:id="rId3"/>
              </a:rPr>
              <a:t>http://bullbear-v2.surge.sh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91227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niOkvir 1">
            <a:extLst>
              <a:ext uri="{FF2B5EF4-FFF2-40B4-BE49-F238E27FC236}">
                <a16:creationId xmlns:a16="http://schemas.microsoft.com/office/drawing/2014/main" id="{5D7EE93B-8E56-8294-BE59-719BC1F653A8}"/>
              </a:ext>
            </a:extLst>
          </p:cNvPr>
          <p:cNvSpPr txBox="1"/>
          <p:nvPr/>
        </p:nvSpPr>
        <p:spPr>
          <a:xfrm>
            <a:off x="3795252" y="6528619"/>
            <a:ext cx="5338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hlinkClick r:id="rId3"/>
              </a:rPr>
              <a:t>https://github.com/vhrabar/BullBear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45129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CB17A0F-E85E-7DD9-9692-CB8196FC46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r-HR" sz="7200" dirty="0"/>
              <a:t>HVALA NA PAŽNJI!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AF5A6AC6-7AF7-C918-1928-2CCDC20350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cap="none" dirty="0"/>
              <a:t>Sve slike preuzete s </a:t>
            </a:r>
            <a:r>
              <a:rPr lang="hr-HR" cap="none" dirty="0">
                <a:hlinkClick r:id="rId2" action="ppaction://hlinkfile"/>
              </a:rPr>
              <a:t>pixabay.com</a:t>
            </a:r>
            <a:endParaRPr lang="hr-HR" cap="none" dirty="0"/>
          </a:p>
        </p:txBody>
      </p:sp>
    </p:spTree>
    <p:extLst>
      <p:ext uri="{BB962C8B-B14F-4D97-AF65-F5344CB8AC3E}">
        <p14:creationId xmlns:p14="http://schemas.microsoft.com/office/powerpoint/2010/main" val="25341572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vemir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268_TF89606788.potx" id="{7BF59891-9F2C-41D1-B8ED-5834BFA4BC12}" vid="{DD39E897-9696-4B60-8E0C-77708BA004CC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6D5668-1971-40BB-BC7C-94C9B101AAB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FE57094B-4684-420B-AFE0-4E41CA2AF7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70F4A1-FC59-4361-989F-6C79533DA5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Svemirski dizajn</Template>
  <TotalTime>325</TotalTime>
  <Words>516</Words>
  <Application>Microsoft Office PowerPoint</Application>
  <PresentationFormat>Široki zaslon</PresentationFormat>
  <Paragraphs>96</Paragraphs>
  <Slides>18</Slides>
  <Notes>14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Svemir</vt:lpstr>
      <vt:lpstr>Bullbear  brokerska aplikacija</vt:lpstr>
      <vt:lpstr>SVEUKUPNI CILJEVI PROJEKTA</vt:lpstr>
      <vt:lpstr>GLAVNI CILJEVI</vt:lpstr>
      <vt:lpstr>FUNKCIJSKI ZAHTJEVI</vt:lpstr>
      <vt:lpstr>AUTENTIFIKACIJA I KORISNIČKI SUSTAV</vt:lpstr>
      <vt:lpstr>TRŽIŠNI PODACI</vt:lpstr>
      <vt:lpstr>TRGOVANJE I PORTFOLIO</vt:lpstr>
      <vt:lpstr>ANALITIKA</vt:lpstr>
      <vt:lpstr>UVOZ I IZVOZ PODATAKA</vt:lpstr>
      <vt:lpstr>LJESTVICA</vt:lpstr>
      <vt:lpstr>MINI FONDOVI</vt:lpstr>
      <vt:lpstr>DRUŠTVENE FUNKCIONALNOSTI</vt:lpstr>
      <vt:lpstr>NEFUNKCIJSKI ZAHTJEVI</vt:lpstr>
      <vt:lpstr>ČLANOVI TIMA</vt:lpstr>
      <vt:lpstr>TRENUTNO STANJE</vt:lpstr>
      <vt:lpstr>PowerPoint prezentacija</vt:lpstr>
      <vt:lpstr>PowerPoint prezentacija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ANTUN SILOV</dc:creator>
  <cp:lastModifiedBy>Antun Silov</cp:lastModifiedBy>
  <cp:revision>8</cp:revision>
  <dcterms:created xsi:type="dcterms:W3CDTF">2025-10-22T07:55:56Z</dcterms:created>
  <dcterms:modified xsi:type="dcterms:W3CDTF">2025-11-11T11:03:25Z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